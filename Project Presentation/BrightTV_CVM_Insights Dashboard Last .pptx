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08A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2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956</c:v>
                </c:pt>
                <c:pt idx="1">
                  <c:v>1322</c:v>
                </c:pt>
                <c:pt idx="2">
                  <c:v>1553</c:v>
                </c:pt>
                <c:pt idx="3">
                  <c:v>1440</c:v>
                </c:pt>
                <c:pt idx="4">
                  <c:v>1673</c:v>
                </c:pt>
                <c:pt idx="5">
                  <c:v>1633</c:v>
                </c:pt>
                <c:pt idx="6">
                  <c:v>1418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67-48A1-BE16-163E754FBE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2F4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5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38100" cap="flat">
              <a:solidFill>
                <a:srgbClr val="F2C14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0h</c:v>
                </c:pt>
                <c:pt idx="1">
                  <c:v>1h</c:v>
                </c:pt>
                <c:pt idx="2">
                  <c:v>2h</c:v>
                </c:pt>
                <c:pt idx="3">
                  <c:v>3h</c:v>
                </c:pt>
                <c:pt idx="4">
                  <c:v>4h</c:v>
                </c:pt>
                <c:pt idx="5">
                  <c:v>5h</c:v>
                </c:pt>
                <c:pt idx="6">
                  <c:v>6h</c:v>
                </c:pt>
                <c:pt idx="7">
                  <c:v>7h</c:v>
                </c:pt>
                <c:pt idx="8">
                  <c:v>8h</c:v>
                </c:pt>
                <c:pt idx="9">
                  <c:v>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497</c:v>
                </c:pt>
                <c:pt idx="1">
                  <c:v>364</c:v>
                </c:pt>
                <c:pt idx="2">
                  <c:v>180</c:v>
                </c:pt>
                <c:pt idx="3">
                  <c:v>103</c:v>
                </c:pt>
                <c:pt idx="4">
                  <c:v>80</c:v>
                </c:pt>
                <c:pt idx="5">
                  <c:v>55</c:v>
                </c:pt>
                <c:pt idx="6">
                  <c:v>49</c:v>
                </c:pt>
                <c:pt idx="7">
                  <c:v>94</c:v>
                </c:pt>
                <c:pt idx="8">
                  <c:v>179</c:v>
                </c:pt>
                <c:pt idx="9">
                  <c:v>298</c:v>
                </c:pt>
                <c:pt idx="10">
                  <c:v>401</c:v>
                </c:pt>
                <c:pt idx="11">
                  <c:v>401</c:v>
                </c:pt>
                <c:pt idx="12">
                  <c:v>541</c:v>
                </c:pt>
                <c:pt idx="13">
                  <c:v>539</c:v>
                </c:pt>
                <c:pt idx="14">
                  <c:v>634</c:v>
                </c:pt>
                <c:pt idx="15">
                  <c:v>568</c:v>
                </c:pt>
                <c:pt idx="16">
                  <c:v>620</c:v>
                </c:pt>
                <c:pt idx="17">
                  <c:v>637</c:v>
                </c:pt>
                <c:pt idx="18">
                  <c:v>627</c:v>
                </c:pt>
                <c:pt idx="19">
                  <c:v>648</c:v>
                </c:pt>
                <c:pt idx="20">
                  <c:v>627</c:v>
                </c:pt>
                <c:pt idx="21">
                  <c:v>646</c:v>
                </c:pt>
                <c:pt idx="22">
                  <c:v>622</c:v>
                </c:pt>
                <c:pt idx="23">
                  <c:v>585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11-49FB-84CD-91336116D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5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08A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2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3652</c:v>
                </c:pt>
                <c:pt idx="1">
                  <c:v>1845</c:v>
                </c:pt>
                <c:pt idx="2">
                  <c:v>1001</c:v>
                </c:pt>
                <c:pt idx="3">
                  <c:v>917</c:v>
                </c:pt>
                <c:pt idx="4">
                  <c:v>763</c:v>
                </c:pt>
                <c:pt idx="5">
                  <c:v>688</c:v>
                </c:pt>
                <c:pt idx="6">
                  <c:v>344</c:v>
                </c:pt>
                <c:pt idx="7">
                  <c:v>292</c:v>
                </c:pt>
                <c:pt idx="8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34-4E79-A8CF-69B2991057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2F4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5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08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9B-424E-BC18-987C40580F4A}"/>
              </c:ext>
            </c:extLst>
          </c:dPt>
          <c:dPt>
            <c:idx val="1"/>
            <c:bubble3D val="0"/>
            <c:spPr>
              <a:solidFill>
                <a:srgbClr val="F2C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9B-424E-BC18-987C40580F4A}"/>
              </c:ext>
            </c:extLst>
          </c:dPt>
          <c:dPt>
            <c:idx val="2"/>
            <c:bubble3D val="0"/>
            <c:spPr>
              <a:solidFill>
                <a:srgbClr val="4FB3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9B-424E-BC18-987C40580F4A}"/>
              </c:ext>
            </c:extLst>
          </c:dPt>
          <c:dPt>
            <c:idx val="3"/>
            <c:bubble3D val="0"/>
            <c:spPr>
              <a:solidFill>
                <a:srgbClr val="C76F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9B-424E-BC18-987C40580F4A}"/>
              </c:ext>
            </c:extLst>
          </c:dPt>
          <c:dPt>
            <c:idx val="4"/>
            <c:bubble3D val="0"/>
            <c:spPr>
              <a:solidFill>
                <a:srgbClr val="7BC4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9B-424E-BC18-987C40580F4A}"/>
              </c:ext>
            </c:extLst>
          </c:dPt>
          <c:dPt>
            <c:idx val="5"/>
            <c:bubble3D val="0"/>
            <c:spPr>
              <a:solidFill>
                <a:srgbClr val="555E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89B-424E-BC18-987C40580F4A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89B-424E-BC18-987C40580F4A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89B-424E-BC18-987C40580F4A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A89B-424E-BC18-987C40580F4A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A89B-424E-BC18-987C40580F4A}"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A89B-424E-BC18-987C40580F4A}"/>
                </c:ext>
              </c:extLst>
            </c:dLbl>
            <c:dLbl>
              <c:idx val="5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A89B-424E-BC18-987C40580F4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Adult</c:v>
                </c:pt>
                <c:pt idx="1">
                  <c:v>Young Adult</c:v>
                </c:pt>
                <c:pt idx="2">
                  <c:v>Senior</c:v>
                </c:pt>
                <c:pt idx="3">
                  <c:v>Teenager</c:v>
                </c:pt>
                <c:pt idx="4">
                  <c:v>Child</c:v>
                </c:pt>
                <c:pt idx="5">
                  <c:v>Unknown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4953</c:v>
                </c:pt>
                <c:pt idx="1">
                  <c:v>3866</c:v>
                </c:pt>
                <c:pt idx="2">
                  <c:v>499</c:v>
                </c:pt>
                <c:pt idx="3">
                  <c:v>319</c:v>
                </c:pt>
                <c:pt idx="4">
                  <c:v>98</c:v>
                </c:pt>
                <c:pt idx="5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89B-424E-BC18-987C40580F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0F1525"/>
        </a:solidFill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F2F4F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B3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83-4B85-B24A-120E18BD9338}"/>
              </c:ext>
            </c:extLst>
          </c:dPt>
          <c:dPt>
            <c:idx val="1"/>
            <c:bubble3D val="0"/>
            <c:spPr>
              <a:solidFill>
                <a:srgbClr val="C76F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83-4B85-B24A-120E18BD9338}"/>
              </c:ext>
            </c:extLst>
          </c:dPt>
          <c:dPt>
            <c:idx val="2"/>
            <c:bubble3D val="0"/>
            <c:spPr>
              <a:solidFill>
                <a:srgbClr val="555E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83-4B85-B24A-120E18BD9338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583-4B85-B24A-120E18BD9338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5583-4B85-B24A-120E18BD9338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5583-4B85-B24A-120E18BD933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8757</c:v>
                </c:pt>
                <c:pt idx="1">
                  <c:v>976</c:v>
                </c:pt>
                <c:pt idx="2">
                  <c:v>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83-4B85-B24A-120E18BD9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0F1525"/>
        </a:solidFill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F2F4F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08A3C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Supersport Live</c:v>
                </c:pt>
                <c:pt idx="1">
                  <c:v>ICC Cricket WC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1637</c:v>
                </c:pt>
                <c:pt idx="1">
                  <c:v>1465</c:v>
                </c:pt>
                <c:pt idx="2">
                  <c:v>1048</c:v>
                </c:pt>
                <c:pt idx="3">
                  <c:v>952</c:v>
                </c:pt>
                <c:pt idx="4">
                  <c:v>896</c:v>
                </c:pt>
                <c:pt idx="5">
                  <c:v>857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9C-42C0-B960-D60BF2FA85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2F4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5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min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2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ICC Cricket</c:v>
                </c:pt>
                <c:pt idx="1">
                  <c:v>SuperSport Live</c:v>
                </c:pt>
                <c:pt idx="2">
                  <c:v>Trace TV</c:v>
                </c:pt>
                <c:pt idx="3">
                  <c:v>Channel O</c:v>
                </c:pt>
                <c:pt idx="4">
                  <c:v>CNN</c:v>
                </c:pt>
                <c:pt idx="5">
                  <c:v>SS Blitz</c:v>
                </c:pt>
                <c:pt idx="6">
                  <c:v>Boomerang</c:v>
                </c:pt>
                <c:pt idx="7">
                  <c:v>E!</c:v>
                </c:pt>
                <c:pt idx="8">
                  <c:v>Cartoon</c:v>
                </c:pt>
                <c:pt idx="9">
                  <c:v>Africa Magic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16.88</c:v>
                </c:pt>
                <c:pt idx="1">
                  <c:v>11.48</c:v>
                </c:pt>
                <c:pt idx="2">
                  <c:v>12.1</c:v>
                </c:pt>
                <c:pt idx="3">
                  <c:v>11</c:v>
                </c:pt>
                <c:pt idx="4">
                  <c:v>8.0500000000000007</c:v>
                </c:pt>
                <c:pt idx="5">
                  <c:v>6.07</c:v>
                </c:pt>
                <c:pt idx="6">
                  <c:v>6.16</c:v>
                </c:pt>
                <c:pt idx="7">
                  <c:v>6.05</c:v>
                </c:pt>
                <c:pt idx="8">
                  <c:v>5.32</c:v>
                </c:pt>
                <c:pt idx="9">
                  <c:v>3.41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95-40DE-83AB-A0AF196719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2F4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5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 sessions</c:v>
                </c:pt>
              </c:strCache>
            </c:strRef>
          </c:tx>
          <c:spPr>
            <a:solidFill>
              <a:srgbClr val="C76F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2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Channel O</c:v>
                </c:pt>
                <c:pt idx="1">
                  <c:v>Trace TV</c:v>
                </c:pt>
                <c:pt idx="2">
                  <c:v>Supersport Live</c:v>
                </c:pt>
                <c:pt idx="3">
                  <c:v>Cartoon Network</c:v>
                </c:pt>
                <c:pt idx="4">
                  <c:v>Africa Magic</c:v>
                </c:pt>
                <c:pt idx="5">
                  <c:v>Boomerang</c:v>
                </c:pt>
                <c:pt idx="6">
                  <c:v>CNN</c:v>
                </c:pt>
                <c:pt idx="7">
                  <c:v>ICC Cricket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136</c:v>
                </c:pt>
                <c:pt idx="1">
                  <c:v>115</c:v>
                </c:pt>
                <c:pt idx="2">
                  <c:v>98</c:v>
                </c:pt>
                <c:pt idx="3">
                  <c:v>94</c:v>
                </c:pt>
                <c:pt idx="4">
                  <c:v>92</c:v>
                </c:pt>
                <c:pt idx="5">
                  <c:v>84</c:v>
                </c:pt>
                <c:pt idx="6">
                  <c:v>73</c:v>
                </c:pt>
                <c:pt idx="7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CC-4CB7-BBED-467A7AEEED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2F4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5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960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the subscription base in FY26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 for the CVM team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9,995 sessions  ·  4,386 unique users  ·  1,522 hours watched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CEO  ·  Times converted UTC → SA (UTC+2)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777240" cy="777240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75564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usage trends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where and how subscribers watch BrightTV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777240" cy="777240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8072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consumption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246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geography &amp; content effects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777240" cy="777240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8587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low-consumption days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4297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for Mondays and quiet slots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777240" cy="777240"/>
          </a:xfrm>
          <a:prstGeom prst="ellipse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892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49103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to grow the base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5349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CVM plays for the year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7895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1737360"/>
          </a:xfrm>
          <a:prstGeom prst="roundRect">
            <a:avLst>
              <a:gd name="adj" fmla="val 7895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745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2788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606040" cy="1737360"/>
          </a:xfrm>
          <a:prstGeom prst="roundRect">
            <a:avLst>
              <a:gd name="adj" fmla="val 7895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1,522 h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watch 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2606040" cy="1737360"/>
          </a:xfrm>
          <a:prstGeom prst="roundRect">
            <a:avLst>
              <a:gd name="adj" fmla="val 7895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8745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7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min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52560" y="2788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mix — the elephant in the room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10392339" cy="502920"/>
          </a:xfrm>
          <a:prstGeom prst="rect">
            <a:avLst/>
          </a:prstGeom>
          <a:solidFill>
            <a:srgbClr val="C76FB8"/>
          </a:solidFill>
          <a:ln w="12700">
            <a:solidFill>
              <a:srgbClr val="C76F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49539" y="4434840"/>
            <a:ext cx="787298" cy="5029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36837" y="4434840"/>
            <a:ext cx="56236" cy="502920"/>
          </a:xfrm>
          <a:prstGeom prst="rect">
            <a:avLst/>
          </a:prstGeom>
          <a:solidFill>
            <a:srgbClr val="7BC47F"/>
          </a:solidFill>
          <a:ln w="12700">
            <a:solidFill>
              <a:srgbClr val="7BC4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120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Consumption  —  9,240 sessions (92.4%)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440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Consumption  —  703 sessions (7%)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C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Consumption  —  52 sessions (0.5%)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users are stuck in Low Consumption — engagement, not acquisition, is the biggest lever.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TRENDS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&amp; Saturday peak — Monday slumps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75895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965960"/>
            <a:ext cx="3246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Friday is the #1 day (1,673 sessions)
•  Monday is -43% vs Friday
•  Saturday delivers the longest avg session at 10.9 min
•  Weekend drives ~45% of total watch hours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TRENDS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time runs 14:00 – 22:00 SA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11247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dips 04:00–07:00. Build always-on programming for 14:00–22:00; trigger CVM nudges at 18:30.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DRIVERS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the strongest driver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75895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463040"/>
            <a:ext cx="3474720" cy="4572000"/>
          </a:xfrm>
          <a:prstGeom prst="roundRect">
            <a:avLst>
              <a:gd name="adj" fmla="val 3158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965960"/>
            <a:ext cx="3246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= 37% of sessions
Top 2 provinces = 55%
</a:t>
            </a: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Cape, Limpopo and Free State are dramatically under-indexed vs population — the clearest growth lane.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DRIVERS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who's watching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(sessions)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737360"/>
          <a:ext cx="56692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(sessions)</a:t>
            </a:r>
            <a:endParaRPr lang="en-US" sz="14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400800" y="173736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400800" y="46177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0" y="47091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male skew = the single biggest demographic gap.
</a:t>
            </a: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+ Young Adult = 88% of sessions; Children watch the longest avg session (12.9 min).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DRIVERS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 drives session length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channels by sessions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737360"/>
          <a:ext cx="61264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76656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length (min)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675120" y="1737360"/>
          <a:ext cx="53035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DRIVERS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factors that move the needle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+ Western Cape = 55% of viewing. Provincial reach is uneven.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971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14:00–22:00 SA prime time; Fri/Sat peak; Mon weakest (-43% vs Fri).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74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5448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+ music drive the deepest sessions; lifestyle channels are short.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34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55448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&amp; Young Adults dominate; severe male skew; Kids = longest sessions.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Tier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Low / 7% Medium / 0.5% High — retention curve is dangerously thin.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ACTIVATE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weakest day — here's what already works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5943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46304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for Monday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196596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Mondays — extend Channel O &amp; Trace TV with SA hip-hop / amapiano premieres.
Monday Night Sport — football / cricket replays + studio analysis on SuperSport Blitz.
Family Cartoon block (16:00–18:00) — Cartoon Network + Boomerang marathons for Kids/Teen.
Africa Magic premiere night — debut new Nollywood titles to lift its 3.4 min avg.
EPG push + in-app nudge at 18:30 SA — start of evening prime time.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INITIATIVES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grow the base — part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2194560"/>
          </a:xfrm>
          <a:prstGeom prst="rect">
            <a:avLst/>
          </a:prstGeom>
          <a:solidFill>
            <a:srgbClr val="C76FB8"/>
          </a:solidFill>
          <a:ln w="12700">
            <a:solidFill>
              <a:srgbClr val="C76F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female segment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users are &lt;11% of sessions. Launch lifestyle/drama bundles, partner with women-led local creators, and run targeted referral campaigns.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109728" cy="2194560"/>
          </a:xfrm>
          <a:prstGeom prst="rect">
            <a:avLst/>
          </a:prstGeom>
          <a:solidFill>
            <a:srgbClr val="4FB3D9"/>
          </a:solidFill>
          <a:ln w="12700">
            <a:solidFill>
              <a:srgbClr val="4FB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00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expansion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Cape, Limpopo &amp; Free State are under-indexed vs population. Telco-bundled offers + localised content marketing.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109728" cy="2194560"/>
          </a:xfrm>
          <a:prstGeom prst="rect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rescue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users sit in Low Consumption. Flag inactivity at 7 days, trigger personalised 'continue watching' + free premium week.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84048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840480"/>
            <a:ext cx="109728" cy="2194560"/>
          </a:xfrm>
          <a:prstGeom prst="rect">
            <a:avLst/>
          </a:prstGeom>
          <a:solidFill>
            <a:srgbClr val="7BC47F"/>
          </a:solidFill>
          <a:ln w="12700">
            <a:solidFill>
              <a:srgbClr val="7BC4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C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Sport-led acquisition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0" y="44805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&amp; SuperSport drive the deepest sessions (12–17 min). Use marquee fixtures as free-trial hooks for new sign-ups.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INITIATIVES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grow the base — part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219456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&amp; youth retention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 + Trace TV super-serve Young Adults. Add exclusive amapiano live sets and artist takeovers monthly.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109728" cy="2194560"/>
          </a:xfrm>
          <a:prstGeom prst="rect">
            <a:avLst/>
          </a:prstGeom>
          <a:solidFill>
            <a:srgbClr val="7BC47F"/>
          </a:solidFill>
          <a:ln w="12700">
            <a:solidFill>
              <a:srgbClr val="7BC4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00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C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Kids tier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watch 12.9 min/session — the longest of any segment. Bundle a 'Kids Safe' tier to lock in household subscriptions.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109728" cy="2194560"/>
          </a:xfrm>
          <a:prstGeom prst="rect">
            <a:avLst/>
          </a:prstGeom>
          <a:solidFill>
            <a:srgbClr val="C76FB8"/>
          </a:solidFill>
          <a:ln w="12700">
            <a:solidFill>
              <a:srgbClr val="C76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activation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the -43% Monday slump with weekly premieres, sport replays, and an EPG push at 18:30 SA.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84048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840480"/>
            <a:ext cx="109728" cy="2194560"/>
          </a:xfrm>
          <a:prstGeom prst="rect">
            <a:avLst/>
          </a:prstGeom>
          <a:solidFill>
            <a:srgbClr val="4FB3D9"/>
          </a:solidFill>
          <a:ln w="12700">
            <a:solidFill>
              <a:srgbClr val="4FB3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Data-light streaming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0" y="44805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MTN / Vodacom on zero-rated lite-stream tiers to unlock data-sensitive provinces.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90-day plan for the CVM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0–30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Launch Monday EPG push at 18:30
•  Inactivity trigger after 7 days
•  Cricket / SuperSport free-trial campaign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554480"/>
            <a:ext cx="3657600" cy="548640"/>
          </a:xfrm>
          <a:prstGeom prst="rect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194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plays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6974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Female-segment bundle + creators
•  Kids Safe tier MVP
•  Eastern Cape / Limpopo telco bundle
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554480"/>
            <a:ext cx="3657600" cy="548640"/>
          </a:xfrm>
          <a:prstGeom prst="rect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194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measure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Music Mondays full schedule
•  Lite-stream pilot with MTN / Vodacom
•  Engagement-tier scorecard for CEO
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· CVM Insights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A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the growth engine.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subscribers are stuck in Low Consumption. Activate Mondays, win the female segment, and bundle Kids + Sport — and the subscription base will compound through FY26.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212080"/>
            <a:ext cx="1371600" cy="73152"/>
          </a:xfrm>
          <a:prstGeom prst="rect">
            <a:avLst/>
          </a:prstGeom>
          <a:solidFill>
            <a:srgbClr val="F08A3C"/>
          </a:solidFill>
          <a:ln w="12700">
            <a:solidFill>
              <a:srgbClr val="F08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803</Words>
  <Application>Microsoft Office PowerPoint</Application>
  <PresentationFormat>Widescreen</PresentationFormat>
  <Paragraphs>157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CVM Insights</dc:title>
  <dc:subject>PptxGenJS Presentation</dc:subject>
  <dc:creator>PptxGenJS</dc:creator>
  <cp:lastModifiedBy>Lungile Mbonambi</cp:lastModifiedBy>
  <cp:revision>1</cp:revision>
  <dcterms:created xsi:type="dcterms:W3CDTF">2026-04-19T20:10:30Z</dcterms:created>
  <dcterms:modified xsi:type="dcterms:W3CDTF">2026-04-19T20:26:08Z</dcterms:modified>
</cp:coreProperties>
</file>